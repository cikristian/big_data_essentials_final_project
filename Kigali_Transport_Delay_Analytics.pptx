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2C5E6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2C5E6"/>
                </a:solidFill>
                <a:latin typeface="Aptos"/>
              </a:rPr>
              <a:t>BIG DATA ESSENTIALS ·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68580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7FAFD"/>
                </a:solidFill>
                <a:latin typeface="Aptos Display"/>
              </a:rPr>
              <a:t>Kigali Public
Transport Delay
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840480"/>
            <a:ext cx="6035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3B4C6"/>
                </a:solidFill>
                <a:latin typeface="Aptos"/>
              </a:rPr>
              <a:t>A live data pipeline for generating, streaming, storing, and interpreting public transport events in near-real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5074920"/>
            <a:ext cx="1920240" cy="384048"/>
          </a:xfrm>
          <a:prstGeom prst="roundRect">
            <a:avLst/>
          </a:prstGeom>
          <a:solidFill>
            <a:srgbClr val="087CF0"/>
          </a:solidFill>
          <a:ln w="12700">
            <a:solidFill>
              <a:srgbClr val="087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5175504"/>
            <a:ext cx="1645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7FAFD"/>
                </a:solidFill>
                <a:latin typeface="Aptos"/>
              </a:rPr>
              <a:t>RWANDA · KIGALI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144768"/>
            <a:ext cx="6492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B4C6"/>
                </a:solidFill>
                <a:latin typeface="Aptos"/>
              </a:rPr>
              <a:t>Django  ·  Kafka  ·  MySQL  ·  HDFS  ·  Spark MLlib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051560"/>
            <a:ext cx="1920240" cy="658368"/>
          </a:xfrm>
          <a:prstGeom prst="roundRect">
            <a:avLst/>
          </a:prstGeom>
          <a:solidFill>
            <a:srgbClr val="42C5E6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26187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  <a:latin typeface="Aptos"/>
              </a:rPr>
              <a:t>GENERATE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103120"/>
            <a:ext cx="1920240" cy="658368"/>
          </a:xfrm>
          <a:prstGeom prst="roundRect">
            <a:avLst/>
          </a:prstGeom>
          <a:solidFill>
            <a:srgbClr val="087CF0"/>
          </a:solidFill>
          <a:ln w="12700">
            <a:solidFill>
              <a:srgbClr val="087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231343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  <a:latin typeface="Aptos"/>
              </a:rPr>
              <a:t>STREAM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154679"/>
            <a:ext cx="1920240" cy="658368"/>
          </a:xfrm>
          <a:prstGeom prst="roundRect">
            <a:avLst/>
          </a:prstGeom>
          <a:solidFill>
            <a:srgbClr val="1EB980"/>
          </a:solidFill>
          <a:ln w="12700">
            <a:solidFill>
              <a:srgbClr val="1E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2520" y="3364991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  <a:latin typeface="Aptos"/>
              </a:rPr>
              <a:t>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4206240"/>
            <a:ext cx="1920240" cy="658368"/>
          </a:xfrm>
          <a:prstGeom prst="roundRect">
            <a:avLst/>
          </a:prstGeom>
          <a:solidFill>
            <a:srgbClr val="F28C36"/>
          </a:solidFill>
          <a:ln w="12700">
            <a:solidFill>
              <a:srgbClr val="F2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441655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  <a:latin typeface="Aptos"/>
              </a:rPr>
              <a:t>PREDICT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92640" y="1719072"/>
            <a:ext cx="0" cy="384048"/>
          </a:xfrm>
          <a:prstGeom prst="line">
            <a:avLst/>
          </a:prstGeom>
          <a:ln w="25400">
            <a:solidFill>
              <a:srgbClr val="F7FA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92640" y="2770632"/>
            <a:ext cx="0" cy="384048"/>
          </a:xfrm>
          <a:prstGeom prst="line">
            <a:avLst/>
          </a:prstGeom>
          <a:ln w="25400">
            <a:solidFill>
              <a:srgbClr val="F7FA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92640" y="3822191"/>
            <a:ext cx="0" cy="384049"/>
          </a:xfrm>
          <a:prstGeom prst="line">
            <a:avLst/>
          </a:prstGeom>
          <a:ln w="25400">
            <a:solidFill>
              <a:srgbClr val="F7FA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3B4C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2C5E6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2C5E6"/>
                </a:solidFill>
                <a:latin typeface="Aptos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AFD"/>
                </a:solidFill>
                <a:latin typeface="Aptos Display"/>
              </a:rPr>
              <a:t>The operational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3B4C6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0972"/>
          </a:xfrm>
          <a:prstGeom prst="rect">
            <a:avLst/>
          </a:prstGeom>
          <a:solidFill>
            <a:srgbClr val="2F4560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3B4C6"/>
                </a:solidFill>
                <a:latin typeface="Aptos"/>
              </a:rPr>
              <a:t>KIGALI PUBLIC TRANSPORT DELAY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6858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7FAFD"/>
                </a:solidFill>
                <a:latin typeface="Aptos Display"/>
              </a:rPr>
              <a:t>How can a transport operator move from historical records to a live view of delay risk?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88920"/>
            <a:ext cx="6492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A3B4C6"/>
                </a:solidFill>
                <a:latin typeface="Aptos"/>
              </a:defRPr>
            </a:pPr>
            <a:r>
              <a:t>- Historical CSV data provides realistic route, weather, congestion, and delay relationships.</a:t>
            </a:r>
          </a:p>
          <a:p>
            <a:pPr>
              <a:spcAft>
                <a:spcPts val="1000"/>
              </a:spcAft>
              <a:defRPr sz="1600">
                <a:solidFill>
                  <a:srgbClr val="A3B4C6"/>
                </a:solidFill>
                <a:latin typeface="Aptos"/>
              </a:defRPr>
            </a:pPr>
            <a:r>
              <a:t>- Synthetic events create a continuous stream without exposing real passenger data.</a:t>
            </a:r>
          </a:p>
          <a:p>
            <a:pPr>
              <a:spcAft>
                <a:spcPts val="1000"/>
              </a:spcAft>
              <a:defRPr sz="1600">
                <a:solidFill>
                  <a:srgbClr val="A3B4C6"/>
                </a:solidFill>
                <a:latin typeface="Aptos"/>
              </a:defRPr>
            </a:pPr>
            <a:r>
              <a:t>- The dashboard turns raw events into operational signals: delay rate, route volume, and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2560320" cy="256032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2148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2C5E6"/>
                </a:solidFill>
                <a:latin typeface="Aptos"/>
              </a:rPr>
              <a:t>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14600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7FAFD"/>
                </a:solidFill>
                <a:latin typeface="Aptos Display"/>
              </a:rPr>
              <a:t>CSV rows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0" y="3063240"/>
            <a:ext cx="0" cy="365760"/>
          </a:xfrm>
          <a:prstGeom prst="line">
            <a:avLst/>
          </a:prstGeom>
          <a:ln w="25400">
            <a:solidFill>
              <a:srgbClr val="F28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03920" y="370332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8C36"/>
                </a:solidFill>
                <a:latin typeface="Aptos"/>
              </a:rPr>
              <a:t>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041648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7FAFD"/>
                </a:solidFill>
                <a:latin typeface="Aptos Display"/>
              </a:rPr>
              <a:t>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2C5E6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2C5E6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AFD"/>
                </a:solidFill>
                <a:latin typeface="Aptos Display"/>
              </a:rPr>
              <a:t>One pipeline, five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3B4C6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0972"/>
          </a:xfrm>
          <a:prstGeom prst="rect">
            <a:avLst/>
          </a:prstGeom>
          <a:solidFill>
            <a:srgbClr val="2F4560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3B4C6"/>
                </a:solidFill>
                <a:latin typeface="Aptos"/>
              </a:rPr>
              <a:t>KIGALI PUBLIC TRANSPORT DELAY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1691640" cy="114300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73152" cy="1143000"/>
          </a:xfrm>
          <a:prstGeom prst="rect">
            <a:avLst/>
          </a:prstGeom>
          <a:solidFill>
            <a:srgbClr val="42C5E6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49631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D"/>
                </a:solidFill>
                <a:latin typeface="Aptos"/>
              </a:rPr>
              <a:t>Reference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7121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3B4C6"/>
                </a:solidFill>
                <a:latin typeface="Aptos"/>
              </a:rPr>
              <a:t>empirical seed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816352"/>
            <a:ext cx="484632" cy="0"/>
          </a:xfrm>
          <a:prstGeom prst="line">
            <a:avLst/>
          </a:prstGeom>
          <a:ln w="25400">
            <a:solidFill>
              <a:srgbClr val="A3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17520" y="2240280"/>
            <a:ext cx="1691640" cy="114300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087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17520" y="2240280"/>
            <a:ext cx="73152" cy="1143000"/>
          </a:xfrm>
          <a:prstGeom prst="rect">
            <a:avLst/>
          </a:prstGeom>
          <a:solidFill>
            <a:srgbClr val="087CF0"/>
          </a:solidFill>
          <a:ln w="12700">
            <a:solidFill>
              <a:srgbClr val="087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82112" y="249631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7FAFD"/>
                </a:solidFill>
                <a:latin typeface="Aptos"/>
              </a:rPr>
              <a:t>Trip 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87121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3B4C6"/>
                </a:solidFill>
                <a:latin typeface="Aptos"/>
              </a:rPr>
              <a:t>typed events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09160" y="2816352"/>
            <a:ext cx="484632" cy="0"/>
          </a:xfrm>
          <a:prstGeom prst="line">
            <a:avLst/>
          </a:prstGeom>
          <a:ln w="25400">
            <a:solidFill>
              <a:srgbClr val="A3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57800" y="2240280"/>
            <a:ext cx="1691640" cy="114300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F2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57800" y="2240280"/>
            <a:ext cx="73152" cy="1143000"/>
          </a:xfrm>
          <a:prstGeom prst="rect">
            <a:avLst/>
          </a:prstGeom>
          <a:solidFill>
            <a:srgbClr val="F28C36"/>
          </a:solidFill>
          <a:ln w="12700">
            <a:solidFill>
              <a:srgbClr val="F2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22392" y="249631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D"/>
                </a:solidFill>
                <a:latin typeface="Aptos"/>
              </a:rPr>
              <a:t>Kafka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287121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3B4C6"/>
                </a:solidFill>
                <a:latin typeface="Aptos"/>
              </a:rPr>
              <a:t>route-keyed stream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49440" y="2816352"/>
            <a:ext cx="484631" cy="0"/>
          </a:xfrm>
          <a:prstGeom prst="line">
            <a:avLst/>
          </a:prstGeom>
          <a:ln w="25400">
            <a:solidFill>
              <a:srgbClr val="A3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98080" y="2240280"/>
            <a:ext cx="1691640" cy="114300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1E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80" y="2240280"/>
            <a:ext cx="73152" cy="1143000"/>
          </a:xfrm>
          <a:prstGeom prst="rect">
            <a:avLst/>
          </a:prstGeom>
          <a:solidFill>
            <a:srgbClr val="1EB980"/>
          </a:solidFill>
          <a:ln w="12700">
            <a:solidFill>
              <a:srgbClr val="1E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62672" y="249631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D"/>
                </a:solidFill>
                <a:latin typeface="Aptos"/>
              </a:rPr>
              <a:t>MySQL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287121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3B4C6"/>
                </a:solidFill>
                <a:latin typeface="Aptos"/>
              </a:rPr>
              <a:t>operational store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89720" y="2816352"/>
            <a:ext cx="484632" cy="0"/>
          </a:xfrm>
          <a:prstGeom prst="line">
            <a:avLst/>
          </a:prstGeom>
          <a:ln w="25400">
            <a:solidFill>
              <a:srgbClr val="A3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38360" y="2240280"/>
            <a:ext cx="1691640" cy="114300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38360" y="2240280"/>
            <a:ext cx="73152" cy="1143000"/>
          </a:xfrm>
          <a:prstGeom prst="rect">
            <a:avLst/>
          </a:prstGeom>
          <a:solidFill>
            <a:srgbClr val="42C5E6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02952" y="249631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D"/>
                </a:solidFill>
                <a:latin typeface="Aptos"/>
              </a:rPr>
              <a:t>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287121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3B4C6"/>
                </a:solidFill>
                <a:latin typeface="Aptos"/>
              </a:rPr>
              <a:t>live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25196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8C36"/>
                </a:solidFill>
                <a:latin typeface="Aptos"/>
              </a:rPr>
              <a:t>Parallel analytics 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4069080"/>
            <a:ext cx="2148840" cy="658368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F2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08960" y="4279392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F7FAFD"/>
                </a:solidFill>
                <a:latin typeface="Aptos"/>
              </a:rPr>
              <a:t>HDFS historical store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4041648" y="3474720"/>
            <a:ext cx="0" cy="566928"/>
          </a:xfrm>
          <a:prstGeom prst="line">
            <a:avLst/>
          </a:prstGeom>
          <a:ln w="25400">
            <a:solidFill>
              <a:srgbClr val="F28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669280" y="4069080"/>
            <a:ext cx="2148840" cy="658368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F2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06440" y="4279392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D"/>
                </a:solidFill>
                <a:latin typeface="Aptos"/>
              </a:rPr>
              <a:t>Spark MLlib training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120640" y="4389120"/>
            <a:ext cx="502920" cy="0"/>
          </a:xfrm>
          <a:prstGeom prst="line">
            <a:avLst/>
          </a:prstGeom>
          <a:ln w="25400">
            <a:solidFill>
              <a:srgbClr val="F28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366760" y="4069080"/>
            <a:ext cx="2148840" cy="658368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F2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0" y="4279392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F7FAFD"/>
                </a:solidFill>
                <a:latin typeface="Aptos"/>
              </a:rPr>
              <a:t>Delay classifier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18120" y="4389120"/>
            <a:ext cx="502920" cy="0"/>
          </a:xfrm>
          <a:prstGeom prst="line">
            <a:avLst/>
          </a:prstGeom>
          <a:ln w="25400">
            <a:solidFill>
              <a:srgbClr val="F28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2C5E6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2C5E6"/>
                </a:solidFill>
                <a:latin typeface="Aptos"/>
              </a:rPr>
              <a:t>DATA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AFD"/>
                </a:solidFill>
                <a:latin typeface="Aptos Display"/>
              </a:rPr>
              <a:t>Generated events keep the data believable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3B4C6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0972"/>
          </a:xfrm>
          <a:prstGeom prst="rect">
            <a:avLst/>
          </a:prstGeom>
          <a:solidFill>
            <a:srgbClr val="2F4560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3B4C6"/>
                </a:solidFill>
                <a:latin typeface="Aptos"/>
              </a:rPr>
              <a:t>KIGALI PUBLIC TRANSPORT DELAY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2468880" cy="105156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938528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42C5E6"/>
                </a:solidFill>
                <a:latin typeface="Aptos Display"/>
              </a:rPr>
              <a:t>NDJSON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4144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3B4C6"/>
                </a:solidFill>
                <a:latin typeface="Aptos"/>
              </a:rPr>
              <a:t>PORTABLE EVENT FORMAT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83080"/>
            <a:ext cx="2468880" cy="105156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1938528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28C36"/>
                </a:solidFill>
                <a:latin typeface="Aptos Display"/>
              </a:rPr>
              <a:t>route_id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44144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3B4C6"/>
                </a:solidFill>
                <a:latin typeface="Aptos"/>
              </a:rPr>
              <a:t>KAFKA PARTITION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2468880" cy="105156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938528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EB980"/>
                </a:solidFill>
                <a:latin typeface="Aptos Display"/>
              </a:rPr>
              <a:t>GMT+2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44144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A3B4C6"/>
                </a:solidFill>
                <a:latin typeface="Aptos"/>
              </a:rPr>
              <a:t>RWANDA EVENT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783080"/>
            <a:ext cx="2468880" cy="105156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34272" y="1938528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087CF0"/>
                </a:solidFill>
                <a:latin typeface="Aptos Display"/>
              </a:rPr>
              <a:t>1–1,000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44144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3B4C6"/>
                </a:solidFill>
                <a:latin typeface="Aptos"/>
              </a:rPr>
              <a:t>API BATCH 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D"/>
                </a:solidFill>
                <a:latin typeface="Aptos Display"/>
              </a:rPr>
              <a:t>Each generated event samples a complete source row, then assigns a new trip ID and current schedule timestamps.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6908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A3B4C6"/>
                </a:solidFill>
                <a:latin typeface="Aptos"/>
              </a:defRPr>
            </a:pPr>
            <a:r>
              <a:t>- Preserves correlations between route, district, weather, congestion, and delay.</a:t>
            </a:r>
          </a:p>
          <a:p>
            <a:pPr>
              <a:spcAft>
                <a:spcPts val="1000"/>
              </a:spcAft>
              <a:defRPr sz="1500">
                <a:solidFill>
                  <a:srgbClr val="A3B4C6"/>
                </a:solidFill>
                <a:latin typeface="Aptos"/>
              </a:defRPr>
            </a:pPr>
            <a:r>
              <a:t>- Converts numeric fields before publishing so downstream systems can aggregate them.</a:t>
            </a:r>
          </a:p>
          <a:p>
            <a:pPr>
              <a:spcAft>
                <a:spcPts val="1000"/>
              </a:spcAft>
              <a:defRPr sz="1500">
                <a:solidFill>
                  <a:srgbClr val="A3B4C6"/>
                </a:solidFill>
                <a:latin typeface="Aptos"/>
              </a:defRPr>
            </a:pPr>
            <a:r>
              <a:t>- Supports both direct MySQL generation and Kafka-backed publishing.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3291840"/>
            <a:ext cx="2514600" cy="192024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23960" y="3566160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2C5E6"/>
                </a:solidFill>
                <a:latin typeface="Aptos"/>
              </a:rPr>
              <a:t>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886200"/>
            <a:ext cx="1965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7FAFD"/>
                </a:solidFill>
                <a:latin typeface="Aptos"/>
              </a:rPr>
              <a:t>trip_id
route_id
weather
congestion
delayed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2C5E6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2C5E6"/>
                </a:solidFill>
                <a:latin typeface="Aptos"/>
              </a:rPr>
              <a:t>STREAMING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AFD"/>
                </a:solidFill>
                <a:latin typeface="Aptos Display"/>
              </a:rPr>
              <a:t>Kafka carries live events with ordering in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3B4C6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0972"/>
          </a:xfrm>
          <a:prstGeom prst="rect">
            <a:avLst/>
          </a:prstGeom>
          <a:solidFill>
            <a:srgbClr val="2F4560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3B4C6"/>
                </a:solidFill>
                <a:latin typeface="Aptos"/>
              </a:rPr>
              <a:t>KIGALI PUBLIC TRANSPORT DELAY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D"/>
                </a:solidFill>
                <a:latin typeface="Aptos Display"/>
              </a:rPr>
              <a:t>The producer uses `route_id` as the message key.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5486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3B4C6"/>
                </a:solidFill>
                <a:latin typeface="Aptos"/>
              </a:rPr>
              <a:t>That gives consistent partition selection: trips on the same route remain ordered while different routes can process in parallel.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828800"/>
            <a:ext cx="2606040" cy="658368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2039112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7FAFD"/>
                </a:solidFill>
                <a:latin typeface="Aptos"/>
              </a:rPr>
              <a:t>partition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03911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B4C6"/>
                </a:solidFill>
                <a:latin typeface="Aptos"/>
              </a:rPr>
              <a:t>KG 7 Ave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788920"/>
            <a:ext cx="2606040" cy="658368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F2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2999232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7FAFD"/>
                </a:solidFill>
                <a:latin typeface="Aptos"/>
              </a:rPr>
              <a:t>partition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99923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B4C6"/>
                </a:solidFill>
                <a:latin typeface="Aptos"/>
              </a:rPr>
              <a:t>KN 5 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49039"/>
            <a:ext cx="2606040" cy="658368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1E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3959352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7FAFD"/>
                </a:solidFill>
                <a:latin typeface="Aptos"/>
              </a:rPr>
              <a:t>partition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95935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B4C6"/>
                </a:solidFill>
                <a:latin typeface="Aptos"/>
              </a:rPr>
              <a:t>Nyabugogo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749039"/>
            <a:ext cx="5394960" cy="109728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F2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3977639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8C36"/>
                </a:solidFill>
                <a:latin typeface="Aptos"/>
              </a:rPr>
              <a:t>Reliability choices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32511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7FAFD"/>
                </a:solidFill>
                <a:latin typeface="Aptos"/>
              </a:rPr>
              <a:t>acks=all  ·  idempotence  ·  delivery acknowledgement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07492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B4C6"/>
                </a:solidFill>
                <a:latin typeface="Aptos"/>
              </a:rPr>
              <a:t>At-least-once processing is explicit and observable; the producer waits for broker acknowledgement before returning HTTP 201.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2C5E6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2C5E6"/>
                </a:solidFill>
                <a:latin typeface="Aptos"/>
              </a:rP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AFD"/>
                </a:solidFill>
                <a:latin typeface="Aptos Display"/>
              </a:rPr>
              <a:t>MySQL is the operational 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3B4C6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0972"/>
          </a:xfrm>
          <a:prstGeom prst="rect">
            <a:avLst/>
          </a:prstGeom>
          <a:solidFill>
            <a:srgbClr val="2F4560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3B4C6"/>
                </a:solidFill>
                <a:latin typeface="Aptos"/>
              </a:rPr>
              <a:t>KIGALI PUBLIC TRANSPORT DELAY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dirty="0">
                <a:solidFill>
                  <a:srgbClr val="F7FAFD"/>
                </a:solidFill>
                <a:latin typeface="Aptos Display"/>
              </a:rPr>
              <a:t>The dashboard now reads and writes one runtime store: MySQL.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2468880" cy="105156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670048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EB980"/>
                </a:solidFill>
                <a:latin typeface="Aptos Display"/>
              </a:rPr>
              <a:t>InnoDB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1729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3B4C6"/>
                </a:solidFill>
                <a:latin typeface="Aptos"/>
              </a:rPr>
              <a:t>DURABLE TABLE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514600"/>
            <a:ext cx="2468880" cy="105156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2670048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42C5E6"/>
                </a:solidFill>
                <a:latin typeface="Aptos Display"/>
              </a:rPr>
              <a:t>utf8mb4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1729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3B4C6"/>
                </a:solidFill>
                <a:latin typeface="Aptos"/>
              </a:rPr>
              <a:t>FULL TEXT COMPATIBILITY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514600"/>
            <a:ext cx="2468880" cy="105156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2670048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28C36"/>
                </a:solidFill>
                <a:latin typeface="Aptos Display"/>
              </a:rPr>
              <a:t>UPSERT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1729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3B4C6"/>
                </a:solidFill>
                <a:latin typeface="Aptos"/>
              </a:rPr>
              <a:t>SAFE REPEATABLE LOADS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514600"/>
            <a:ext cx="2468880" cy="105156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7152" y="2670048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087CF0"/>
                </a:solidFill>
                <a:latin typeface="Aptos Display"/>
              </a:rPr>
              <a:t>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31729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A3B4C6"/>
                </a:solidFill>
                <a:latin typeface="Aptos"/>
              </a:rPr>
              <a:t>DASHBOARD 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14800"/>
            <a:ext cx="10241280" cy="114300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3891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2C5E6"/>
                </a:solidFill>
                <a:latin typeface="Aptos Display"/>
              </a:rPr>
              <a:t>transport_trip_events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352544"/>
            <a:ext cx="6583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AFD"/>
                </a:solidFill>
                <a:latin typeface="Aptos"/>
              </a:rPr>
              <a:t>trip identity  ·  route  ·  coordinates  ·  schedule  ·  weather  ·  traffic  ·  delay outcome  ·  generated timestamp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B4C6"/>
                </a:solidFill>
                <a:latin typeface="Aptos"/>
              </a:rPr>
              <a:t>Historical SQLite rows can be replicated once; new runtime events go directly to MySQL.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2C5E6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2C5E6"/>
                </a:solidFill>
                <a:latin typeface="Aptos"/>
              </a:rPr>
              <a:t>OPERATIONAL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AFD"/>
                </a:solidFill>
                <a:latin typeface="Aptos Display"/>
              </a:rPr>
              <a:t>The dashboard turns events into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3B4C6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0972"/>
          </a:xfrm>
          <a:prstGeom prst="rect">
            <a:avLst/>
          </a:prstGeom>
          <a:solidFill>
            <a:srgbClr val="2F4560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3B4C6"/>
                </a:solidFill>
                <a:latin typeface="Aptos"/>
              </a:rPr>
              <a:t>KIGALI PUBLIC TRANSPORT DELAY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D"/>
                </a:solidFill>
                <a:latin typeface="Aptos Display"/>
              </a:rPr>
              <a:t>A two-second refresh loop exposes the current operational picture.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68880"/>
            <a:ext cx="2423160" cy="105156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7919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2C5E6"/>
                </a:solidFill>
                <a:latin typeface="Aptos Display"/>
              </a:rP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82112"/>
            <a:ext cx="20574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3B4C6"/>
                </a:solidFill>
                <a:latin typeface="Aptos"/>
              </a:rPr>
              <a:t>STORED LIVE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468880"/>
            <a:ext cx="2423160" cy="105156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F2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67919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8C36"/>
                </a:solidFill>
                <a:latin typeface="Aptos Display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182112"/>
            <a:ext cx="20574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3B4C6"/>
                </a:solidFill>
                <a:latin typeface="Aptos"/>
              </a:rPr>
              <a:t>OBSERVED DELAY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468880"/>
            <a:ext cx="2423160" cy="105156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1E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67919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B980"/>
                </a:solidFill>
                <a:latin typeface="Aptos Display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82112"/>
            <a:ext cx="20574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3B4C6"/>
                </a:solidFill>
                <a:latin typeface="Aptos"/>
              </a:rPr>
              <a:t>PREDICTED DELAYS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468880"/>
            <a:ext cx="2423160" cy="105156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087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19" y="267919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87CF0"/>
                </a:solidFill>
                <a:latin typeface="Aptos Display"/>
              </a:rPr>
              <a:t>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3182112"/>
            <a:ext cx="20574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3B4C6"/>
                </a:solidFill>
                <a:latin typeface="Aptos"/>
              </a:rPr>
              <a:t>TOP ACTIVE ROUTE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77639"/>
            <a:ext cx="4892040" cy="123444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22452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2C5E6"/>
                </a:solidFill>
                <a:latin typeface="Aptos"/>
              </a:rPr>
              <a:t>LIVE TRANSIT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9943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7FAFD"/>
                </a:solidFill>
                <a:latin typeface="Aptos"/>
              </a:rPr>
              <a:t>Origin coordinates · route markers · predicted 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977639"/>
            <a:ext cx="4892040" cy="123444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422452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8C36"/>
                </a:solidFill>
                <a:latin typeface="Aptos"/>
              </a:rPr>
              <a:t>DECISION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59943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7FAFD"/>
                </a:solidFill>
                <a:latin typeface="Aptos"/>
              </a:rPr>
              <a:t>Route volume · transport mix · priority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2C5E6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2C5E6"/>
                </a:solidFill>
                <a:latin typeface="Aptos"/>
              </a:rP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AFD"/>
                </a:solidFill>
                <a:latin typeface="Aptos Display"/>
              </a:rPr>
              <a:t>Spark MLlib adds a planning-time risk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3B4C6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0972"/>
          </a:xfrm>
          <a:prstGeom prst="rect">
            <a:avLst/>
          </a:prstGeom>
          <a:solidFill>
            <a:srgbClr val="2F4560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3B4C6"/>
                </a:solidFill>
                <a:latin typeface="Aptos"/>
              </a:rPr>
              <a:t>KIGALI PUBLIC TRANSPORT DELAY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D"/>
                </a:solidFill>
                <a:latin typeface="Aptos Display"/>
              </a:rPr>
              <a:t>The training path is designed to avoid target leakage.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6309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A3B4C6"/>
                </a:solidFill>
                <a:latin typeface="Aptos"/>
              </a:defRPr>
            </a:pPr>
            <a:r>
              <a:t>- Reference data is uploaded to HDFS as the historical source.</a:t>
            </a:r>
          </a:p>
          <a:p>
            <a:pPr>
              <a:spcAft>
                <a:spcPts val="1000"/>
              </a:spcAft>
              <a:defRPr sz="1500">
                <a:solidFill>
                  <a:srgbClr val="A3B4C6"/>
                </a:solidFill>
                <a:latin typeface="Aptos"/>
              </a:defRPr>
            </a:pPr>
            <a:r>
              <a:t>- Spark reads from HDFS and trains a delay classifier with planning/dispatch features.</a:t>
            </a:r>
          </a:p>
          <a:p>
            <a:pPr>
              <a:spcAft>
                <a:spcPts val="1000"/>
              </a:spcAft>
              <a:defRPr sz="1500">
                <a:solidFill>
                  <a:srgbClr val="A3B4C6"/>
                </a:solidFill>
                <a:latin typeface="Aptos"/>
              </a:defRPr>
            </a:pPr>
            <a:r>
              <a:t>- Actual arrival and departure delay fields are excluded from training features.</a:t>
            </a:r>
          </a:p>
          <a:p>
            <a:pPr>
              <a:spcAft>
                <a:spcPts val="1000"/>
              </a:spcAft>
              <a:defRPr sz="1500">
                <a:solidFill>
                  <a:srgbClr val="A3B4C6"/>
                </a:solidFill>
                <a:latin typeface="Aptos"/>
              </a:defRPr>
            </a:pPr>
            <a:r>
              <a:t>- Metrics and the pipeline model are saved back to HDFS for inspection and reuse.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057400"/>
            <a:ext cx="2560320" cy="68580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22860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42C5E6"/>
                </a:solidFill>
                <a:latin typeface="Aptos"/>
              </a:rPr>
              <a:t>HDFS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98280" y="2743200"/>
            <a:ext cx="0" cy="411480"/>
          </a:xfrm>
          <a:prstGeom prst="line">
            <a:avLst/>
          </a:prstGeom>
          <a:ln w="25400">
            <a:solidFill>
              <a:srgbClr val="42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818120" y="3246120"/>
            <a:ext cx="2560320" cy="68580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F2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28C36"/>
                </a:solidFill>
                <a:latin typeface="Aptos"/>
              </a:rPr>
              <a:t>SPARK MLlib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98280" y="3931920"/>
            <a:ext cx="0" cy="411480"/>
          </a:xfrm>
          <a:prstGeom prst="line">
            <a:avLst/>
          </a:prstGeom>
          <a:ln w="25400">
            <a:solidFill>
              <a:srgbClr val="F28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18120" y="4434840"/>
            <a:ext cx="2560320" cy="685800"/>
          </a:xfrm>
          <a:prstGeom prst="roundRect">
            <a:avLst/>
          </a:prstGeom>
          <a:solidFill>
            <a:srgbClr val="10233F"/>
          </a:solidFill>
          <a:ln w="12700">
            <a:solidFill>
              <a:srgbClr val="1E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46634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EB980"/>
                </a:solidFill>
                <a:latin typeface="Aptos"/>
              </a:rPr>
              <a:t>risk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2C5E6"/>
          </a:solidFill>
          <a:ln w="12700">
            <a:solidFill>
              <a:srgbClr val="42C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2C5E6"/>
                </a:solidFill>
                <a:latin typeface="Aptos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AFD"/>
                </a:solidFill>
                <a:latin typeface="Aptos Display"/>
              </a:rPr>
              <a:t>What this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3B4C6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0972"/>
          </a:xfrm>
          <a:prstGeom prst="rect">
            <a:avLst/>
          </a:prstGeom>
          <a:solidFill>
            <a:srgbClr val="2F4560"/>
          </a:solidFill>
          <a:ln w="12700">
            <a:solidFill>
              <a:srgbClr val="2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3B4C6"/>
                </a:solidFill>
                <a:latin typeface="Aptos"/>
              </a:rPr>
              <a:t>KIGALI PUBLIC TRANSPORT DELAY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2C5E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4320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7FAFD"/>
                </a:solidFill>
                <a:latin typeface="Aptos"/>
              </a:rP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43200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B4C6"/>
                </a:solidFill>
                <a:latin typeface="Aptos"/>
              </a:rPr>
              <a:t>Realistic synthetic events from empirical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0156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7CF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0156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D"/>
                </a:solidFill>
                <a:latin typeface="Aptos"/>
              </a:rPr>
              <a:t>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0156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A3B4C6"/>
                </a:solidFill>
                <a:latin typeface="Aptos"/>
              </a:rPr>
              <a:t>Route-aware Kafka delivery with acknowledgement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59935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B980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59935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D"/>
                </a:solidFill>
                <a:latin typeface="Aptos"/>
              </a:rPr>
              <a:t>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059935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A3B4C6"/>
                </a:solidFill>
                <a:latin typeface="Aptos"/>
              </a:rPr>
              <a:t>MySQL as the single operational source of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18304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8C36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18304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D"/>
                </a:solidFill>
                <a:latin typeface="Aptos"/>
              </a:rP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718304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A3B4C6"/>
                </a:solidFill>
                <a:latin typeface="Aptos"/>
              </a:rPr>
              <a:t>Dashboard metrics and Spark-based risk modeling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560320"/>
            <a:ext cx="1508760" cy="1508760"/>
          </a:xfrm>
          <a:prstGeom prst="roundRect">
            <a:avLst/>
          </a:prstGeom>
          <a:solidFill>
            <a:srgbClr val="087CF0"/>
          </a:solidFill>
          <a:ln w="12700">
            <a:solidFill>
              <a:srgbClr val="087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292608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7FAFD"/>
                </a:solidFill>
                <a:latin typeface="Aptos Display"/>
              </a:rPr>
              <a:t>LIVE
DATA
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502920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2C5E6"/>
                </a:solidFill>
                <a:latin typeface="Aptos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645</Words>
  <Application>Microsoft Office PowerPoint</Application>
  <PresentationFormat>Widescreen</PresentationFormat>
  <Paragraphs>136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Christian Rwibutso Hakizinka [ MTN SA - Oratel PTY LTD ]</cp:lastModifiedBy>
  <cp:revision>2</cp:revision>
  <dcterms:created xsi:type="dcterms:W3CDTF">2013-01-27T09:14:16Z</dcterms:created>
  <dcterms:modified xsi:type="dcterms:W3CDTF">2026-09-19T19:10:42Z</dcterms:modified>
  <cp:category/>
</cp:coreProperties>
</file>